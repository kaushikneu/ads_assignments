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6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p:restoredTop sz="94624"/>
  </p:normalViewPr>
  <p:slideViewPr>
    <p:cSldViewPr snapToGrid="0">
      <p:cViewPr varScale="1">
        <p:scale>
          <a:sx n="105" d="100"/>
          <a:sy n="105" d="100"/>
        </p:scale>
        <p:origin x="1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3238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7598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2/27/25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9053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99812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2/27/25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690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2/27/25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7689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2/27/25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8628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2/27/25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54154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2/27/25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7610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2/27/25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409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2/27/25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1170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2/27/25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8443290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A web of dots connected">
            <a:extLst>
              <a:ext uri="{FF2B5EF4-FFF2-40B4-BE49-F238E27FC236}">
                <a16:creationId xmlns:a16="http://schemas.microsoft.com/office/drawing/2014/main" id="{7B205ED9-D45A-4DC8-ECA3-CC525B15D944}"/>
              </a:ext>
            </a:extLst>
          </p:cNvPr>
          <p:cNvPicPr>
            <a:picLocks noChangeAspect="1"/>
          </p:cNvPicPr>
          <p:nvPr/>
        </p:nvPicPr>
        <p:blipFill>
          <a:blip r:embed="rId2"/>
          <a:srcRect l="27677" t="4938" b="4153"/>
          <a:stretch/>
        </p:blipFill>
        <p:spPr>
          <a:xfrm>
            <a:off x="20" y="10"/>
            <a:ext cx="12191979" cy="6857990"/>
          </a:xfrm>
          <a:prstGeom prst="rect">
            <a:avLst/>
          </a:prstGeom>
        </p:spPr>
      </p:pic>
      <p:sp>
        <p:nvSpPr>
          <p:cNvPr id="24" name="Rectangle 23">
            <a:extLst>
              <a:ext uri="{FF2B5EF4-FFF2-40B4-BE49-F238E27FC236}">
                <a16:creationId xmlns:a16="http://schemas.microsoft.com/office/drawing/2014/main" id="{B7D064F0-6D2A-219C-C000-14ABD99EC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8E8EE1-36A9-7703-EC64-5EA2912852C9}"/>
              </a:ext>
            </a:extLst>
          </p:cNvPr>
          <p:cNvSpPr>
            <a:spLocks noGrp="1"/>
          </p:cNvSpPr>
          <p:nvPr>
            <p:ph type="ctrTitle"/>
          </p:nvPr>
        </p:nvSpPr>
        <p:spPr>
          <a:xfrm>
            <a:off x="7620001" y="822960"/>
            <a:ext cx="4286054" cy="3474720"/>
          </a:xfrm>
        </p:spPr>
        <p:txBody>
          <a:bodyPr anchor="b">
            <a:normAutofit/>
          </a:bodyPr>
          <a:lstStyle/>
          <a:p>
            <a:pPr algn="l"/>
            <a:r>
              <a:rPr lang="en-US" sz="4400" dirty="0"/>
              <a:t>Lab05- RAG(Retrieval-Augmented Generation)</a:t>
            </a:r>
            <a:br>
              <a:rPr lang="en-US" sz="4400" dirty="0"/>
            </a:br>
            <a:endParaRPr lang="en-US" sz="4400" dirty="0"/>
          </a:p>
        </p:txBody>
      </p:sp>
    </p:spTree>
    <p:extLst>
      <p:ext uri="{BB962C8B-B14F-4D97-AF65-F5344CB8AC3E}">
        <p14:creationId xmlns:p14="http://schemas.microsoft.com/office/powerpoint/2010/main" val="26866135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3291A-ABEE-7C45-BE8F-F99365F7D135}"/>
              </a:ext>
            </a:extLst>
          </p:cNvPr>
          <p:cNvSpPr>
            <a:spLocks noGrp="1"/>
          </p:cNvSpPr>
          <p:nvPr>
            <p:ph type="title"/>
          </p:nvPr>
        </p:nvSpPr>
        <p:spPr>
          <a:xfrm>
            <a:off x="612648" y="548640"/>
            <a:ext cx="10653578" cy="670560"/>
          </a:xfrm>
        </p:spPr>
        <p:txBody>
          <a:bodyPr/>
          <a:lstStyle/>
          <a:p>
            <a:r>
              <a:rPr lang="en-US" dirty="0"/>
              <a:t>About RAG(</a:t>
            </a:r>
            <a:r>
              <a:rPr lang="en-US" sz="3600" dirty="0"/>
              <a:t>Retrieval-Augmented Generation)</a:t>
            </a:r>
            <a:endParaRPr lang="en-US" dirty="0"/>
          </a:p>
        </p:txBody>
      </p:sp>
      <p:sp>
        <p:nvSpPr>
          <p:cNvPr id="3" name="TextBox 2">
            <a:extLst>
              <a:ext uri="{FF2B5EF4-FFF2-40B4-BE49-F238E27FC236}">
                <a16:creationId xmlns:a16="http://schemas.microsoft.com/office/drawing/2014/main" id="{AD7BA4A2-4EAF-51D3-0AEE-9F5AD8924E3C}"/>
              </a:ext>
            </a:extLst>
          </p:cNvPr>
          <p:cNvSpPr txBox="1"/>
          <p:nvPr/>
        </p:nvSpPr>
        <p:spPr>
          <a:xfrm>
            <a:off x="612648" y="1438656"/>
            <a:ext cx="9628632" cy="5016758"/>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What's RAG?</a:t>
            </a:r>
          </a:p>
          <a:p>
            <a:r>
              <a:rPr lang="en-US" sz="1600" dirty="0">
                <a:latin typeface="Times New Roman" panose="02020603050405020304" pitchFamily="18" charset="0"/>
                <a:cs typeface="Times New Roman" panose="02020603050405020304" pitchFamily="18" charset="0"/>
              </a:rPr>
              <a:t>RAG is like having a well-read friend who loves to show off their knowledge: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 Retrieval</a:t>
            </a:r>
            <a:r>
              <a:rPr lang="en-US" sz="1600" dirty="0">
                <a:latin typeface="Times New Roman" panose="02020603050405020304" pitchFamily="18" charset="0"/>
                <a:cs typeface="Times New Roman" panose="02020603050405020304" pitchFamily="18" charset="0"/>
              </a:rPr>
              <a:t>: First, it digs through its library of facts (or your database) to find just the right tidbit related to your question.</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 Generation</a:t>
            </a:r>
            <a:r>
              <a:rPr lang="en-US" sz="1600" dirty="0">
                <a:latin typeface="Times New Roman" panose="02020603050405020304" pitchFamily="18" charset="0"/>
                <a:cs typeface="Times New Roman" panose="02020603050405020304" pitchFamily="18" charset="0"/>
              </a:rPr>
              <a:t>: Then, it turns those facts into a smooth, engaging response, much like crafting a perfect text message.</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Code Overview</a:t>
            </a:r>
          </a:p>
          <a:p>
            <a:pPr>
              <a:buFont typeface="+mj-lt"/>
              <a:buAutoNum type="arabicPeriod"/>
            </a:pPr>
            <a:r>
              <a:rPr lang="en-US" sz="1600" b="1" dirty="0">
                <a:latin typeface="Times New Roman" panose="02020603050405020304" pitchFamily="18" charset="0"/>
                <a:cs typeface="Times New Roman" panose="02020603050405020304" pitchFamily="18" charset="0"/>
              </a:rPr>
              <a:t> Data Prep</a:t>
            </a:r>
            <a:r>
              <a:rPr lang="en-US" sz="1600" dirty="0">
                <a:latin typeface="Times New Roman" panose="02020603050405020304" pitchFamily="18" charset="0"/>
                <a:cs typeface="Times New Roman" panose="02020603050405020304" pitchFamily="18" charset="0"/>
              </a:rPr>
              <a:t>: Imagine loading your friend's brain with all sorts of books (i.e., data).</a:t>
            </a:r>
          </a:p>
          <a:p>
            <a:pPr>
              <a:buFont typeface="+mj-lt"/>
              <a:buAutoNum type="arabicPeriod"/>
            </a:pPr>
            <a:r>
              <a:rPr lang="en-US" sz="1600" b="1" dirty="0">
                <a:latin typeface="Times New Roman" panose="02020603050405020304" pitchFamily="18" charset="0"/>
                <a:cs typeface="Times New Roman" panose="02020603050405020304" pitchFamily="18" charset="0"/>
              </a:rPr>
              <a:t> Retrieval Function</a:t>
            </a:r>
            <a:r>
              <a:rPr lang="en-US" sz="1600" dirty="0">
                <a:latin typeface="Times New Roman" panose="02020603050405020304" pitchFamily="18" charset="0"/>
                <a:cs typeface="Times New Roman" panose="02020603050405020304" pitchFamily="18" charset="0"/>
              </a:rPr>
              <a:t>: Ask a question and watch as it pulls relevant facts faster than a student cramming for exams.</a:t>
            </a:r>
          </a:p>
          <a:p>
            <a:pPr>
              <a:buFont typeface="+mj-lt"/>
              <a:buAutoNum type="arabicPeriod"/>
            </a:pPr>
            <a:r>
              <a:rPr lang="en-US" sz="1600" b="1" dirty="0">
                <a:latin typeface="Times New Roman" panose="02020603050405020304" pitchFamily="18" charset="0"/>
                <a:cs typeface="Times New Roman" panose="02020603050405020304" pitchFamily="18" charset="0"/>
              </a:rPr>
              <a:t> Generation Function</a:t>
            </a:r>
            <a:r>
              <a:rPr lang="en-US" sz="1600" dirty="0">
                <a:latin typeface="Times New Roman" panose="02020603050405020304" pitchFamily="18" charset="0"/>
                <a:cs typeface="Times New Roman" panose="02020603050405020304" pitchFamily="18" charset="0"/>
              </a:rPr>
              <a:t>: It then chats back with an answer that’s not just correct but also sounds like it came from a wise old sage.</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Example in Action</a:t>
            </a:r>
          </a:p>
          <a:p>
            <a:r>
              <a:rPr lang="en-US" sz="1600" dirty="0">
                <a:latin typeface="Times New Roman" panose="02020603050405020304" pitchFamily="18" charset="0"/>
                <a:cs typeface="Times New Roman" panose="02020603050405020304" pitchFamily="18" charset="0"/>
              </a:rPr>
              <a:t>Ask, "What went down in 1066?" and RAG zips through its mental library, pulls out the best bits about the Battle of Hastings, and lays down the story like it's gossiping about old English royalty.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This way, RAG combines the speed of the best quiz team with the flair of a seasoned storyteller, making it not just smart but also delightfully eloquent!</a:t>
            </a:r>
          </a:p>
        </p:txBody>
      </p:sp>
    </p:spTree>
    <p:extLst>
      <p:ext uri="{BB962C8B-B14F-4D97-AF65-F5344CB8AC3E}">
        <p14:creationId xmlns:p14="http://schemas.microsoft.com/office/powerpoint/2010/main" val="4071756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D1160-5B14-6B83-D7EC-60BE6DA319DE}"/>
              </a:ext>
            </a:extLst>
          </p:cNvPr>
          <p:cNvSpPr>
            <a:spLocks noGrp="1"/>
          </p:cNvSpPr>
          <p:nvPr>
            <p:ph type="title"/>
          </p:nvPr>
        </p:nvSpPr>
        <p:spPr>
          <a:xfrm>
            <a:off x="431800" y="164592"/>
            <a:ext cx="8224519" cy="1086612"/>
          </a:xfrm>
        </p:spPr>
        <p:txBody>
          <a:bodyPr vert="horz" lIns="91440" tIns="45720" rIns="91440" bIns="45720" rtlCol="0" anchor="b">
            <a:normAutofit/>
          </a:bodyPr>
          <a:lstStyle/>
          <a:p>
            <a:r>
              <a:rPr lang="en-US" b="1" kern="1200" dirty="0">
                <a:solidFill>
                  <a:schemeClr val="tx1"/>
                </a:solidFill>
                <a:latin typeface="+mj-lt"/>
                <a:ea typeface="+mj-ea"/>
                <a:cs typeface="+mj-cs"/>
              </a:rPr>
              <a:t>Demo-01 Installation </a:t>
            </a:r>
          </a:p>
        </p:txBody>
      </p:sp>
      <p:sp>
        <p:nvSpPr>
          <p:cNvPr id="3" name="TextBox 2">
            <a:extLst>
              <a:ext uri="{FF2B5EF4-FFF2-40B4-BE49-F238E27FC236}">
                <a16:creationId xmlns:a16="http://schemas.microsoft.com/office/drawing/2014/main" id="{5D7D13BF-DBD6-76BB-CC38-6FC4E71AD903}"/>
              </a:ext>
            </a:extLst>
          </p:cNvPr>
          <p:cNvSpPr txBox="1"/>
          <p:nvPr/>
        </p:nvSpPr>
        <p:spPr>
          <a:xfrm>
            <a:off x="431800" y="1415796"/>
            <a:ext cx="8773160" cy="4122420"/>
          </a:xfrm>
          <a:prstGeom prst="rect">
            <a:avLst/>
          </a:prstGeom>
        </p:spPr>
        <p:txBody>
          <a:bodyPr vert="horz" lIns="91440" tIns="45720" rIns="91440" bIns="45720" rtlCol="0">
            <a:normAutofit/>
          </a:bodyPr>
          <a:lstStyle/>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Install </a:t>
            </a: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from the website </a:t>
            </a:r>
          </a:p>
          <a:p>
            <a:pPr marL="285750" indent="-228600">
              <a:lnSpc>
                <a:spcPct val="11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run llama3.2 - /bye</a:t>
            </a:r>
          </a:p>
          <a:p>
            <a:pPr marL="285750" indent="-228600">
              <a:lnSpc>
                <a:spcPct val="11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pull </a:t>
            </a:r>
            <a:r>
              <a:rPr lang="en-US" dirty="0" err="1">
                <a:latin typeface="Times New Roman" panose="02020603050405020304" pitchFamily="18" charset="0"/>
                <a:cs typeface="Times New Roman" panose="02020603050405020304" pitchFamily="18" charset="0"/>
              </a:rPr>
              <a:t>hf.co</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CompendiumLabs</a:t>
            </a:r>
            <a:r>
              <a:rPr lang="en-US" dirty="0">
                <a:latin typeface="Times New Roman" panose="02020603050405020304" pitchFamily="18" charset="0"/>
                <a:cs typeface="Times New Roman" panose="02020603050405020304" pitchFamily="18" charset="0"/>
              </a:rPr>
              <a:t>/bge-base-en-v1.5-gguf</a:t>
            </a:r>
          </a:p>
          <a:p>
            <a:pPr marL="285750" indent="-228600">
              <a:lnSpc>
                <a:spcPct val="11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pull </a:t>
            </a:r>
            <a:r>
              <a:rPr lang="en-US" dirty="0" err="1">
                <a:latin typeface="Times New Roman" panose="02020603050405020304" pitchFamily="18" charset="0"/>
                <a:cs typeface="Times New Roman" panose="02020603050405020304" pitchFamily="18" charset="0"/>
              </a:rPr>
              <a:t>hf.co</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bartowski</a:t>
            </a:r>
            <a:r>
              <a:rPr lang="en-US" dirty="0">
                <a:latin typeface="Times New Roman" panose="02020603050405020304" pitchFamily="18" charset="0"/>
                <a:cs typeface="Times New Roman" panose="02020603050405020304" pitchFamily="18" charset="0"/>
              </a:rPr>
              <a:t>/Llama-3.2-1B-Instruct-GGUF</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Open your –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lab</a:t>
            </a:r>
          </a:p>
          <a:p>
            <a:pPr marL="285750" indent="-228600">
              <a:lnSpc>
                <a:spcPct val="11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Intsall</a:t>
            </a:r>
            <a:r>
              <a:rPr lang="en-US" dirty="0">
                <a:latin typeface="Times New Roman" panose="02020603050405020304" pitchFamily="18" charset="0"/>
                <a:cs typeface="Times New Roman" panose="02020603050405020304" pitchFamily="18" charset="0"/>
              </a:rPr>
              <a:t> in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 !pip install </a:t>
            </a: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numpy</a:t>
            </a:r>
            <a:endParaRPr lang="en-US" dirty="0">
              <a:latin typeface="Times New Roman" panose="02020603050405020304" pitchFamily="18" charset="0"/>
              <a:cs typeface="Times New Roman" panose="02020603050405020304" pitchFamily="18" charset="0"/>
            </a:endParaRPr>
          </a:p>
          <a:p>
            <a:pPr marL="285750" indent="-228600">
              <a:lnSpc>
                <a:spcPct val="110000"/>
              </a:lnSpc>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indent="-228600">
              <a:lnSpc>
                <a:spcPct val="110000"/>
              </a:lnSpc>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99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program&#10;&#10;AI-generated content may be incorrect.">
            <a:extLst>
              <a:ext uri="{FF2B5EF4-FFF2-40B4-BE49-F238E27FC236}">
                <a16:creationId xmlns:a16="http://schemas.microsoft.com/office/drawing/2014/main" id="{8872B890-137D-1F62-0FF0-61FCD1AC4270}"/>
              </a:ext>
            </a:extLst>
          </p:cNvPr>
          <p:cNvPicPr>
            <a:picLocks noChangeAspect="1"/>
          </p:cNvPicPr>
          <p:nvPr/>
        </p:nvPicPr>
        <p:blipFill>
          <a:blip r:embed="rId2"/>
          <a:srcRect r="14845" b="1"/>
          <a:stretch/>
        </p:blipFill>
        <p:spPr>
          <a:xfrm>
            <a:off x="4752550" y="10"/>
            <a:ext cx="7439450" cy="6857990"/>
          </a:xfrm>
          <a:prstGeom prst="rect">
            <a:avLst/>
          </a:prstGeom>
        </p:spPr>
      </p:pic>
      <p:sp>
        <p:nvSpPr>
          <p:cNvPr id="2" name="Title 1">
            <a:extLst>
              <a:ext uri="{FF2B5EF4-FFF2-40B4-BE49-F238E27FC236}">
                <a16:creationId xmlns:a16="http://schemas.microsoft.com/office/drawing/2014/main" id="{263C1B30-A1B8-AFAA-F038-7764523A0614}"/>
              </a:ext>
            </a:extLst>
          </p:cNvPr>
          <p:cNvSpPr>
            <a:spLocks noGrp="1"/>
          </p:cNvSpPr>
          <p:nvPr>
            <p:ph type="title"/>
          </p:nvPr>
        </p:nvSpPr>
        <p:spPr>
          <a:xfrm>
            <a:off x="599569" y="214884"/>
            <a:ext cx="3553412" cy="615696"/>
          </a:xfrm>
        </p:spPr>
        <p:txBody>
          <a:bodyPr vert="horz" lIns="91440" tIns="45720" rIns="91440" bIns="45720" rtlCol="0" anchor="b">
            <a:normAutofit/>
          </a:bodyPr>
          <a:lstStyle/>
          <a:p>
            <a:r>
              <a:rPr lang="en-US" b="1" kern="1200" dirty="0">
                <a:solidFill>
                  <a:schemeClr val="tx1"/>
                </a:solidFill>
                <a:latin typeface="+mj-lt"/>
                <a:ea typeface="+mj-ea"/>
                <a:cs typeface="+mj-cs"/>
              </a:rPr>
              <a:t>Demo-01</a:t>
            </a:r>
          </a:p>
        </p:txBody>
      </p:sp>
      <p:sp>
        <p:nvSpPr>
          <p:cNvPr id="3" name="TextBox 2">
            <a:extLst>
              <a:ext uri="{FF2B5EF4-FFF2-40B4-BE49-F238E27FC236}">
                <a16:creationId xmlns:a16="http://schemas.microsoft.com/office/drawing/2014/main" id="{5696DB54-A0DA-6543-9D80-F55F9A09B235}"/>
              </a:ext>
            </a:extLst>
          </p:cNvPr>
          <p:cNvSpPr txBox="1"/>
          <p:nvPr/>
        </p:nvSpPr>
        <p:spPr>
          <a:xfrm>
            <a:off x="170688" y="830580"/>
            <a:ext cx="4581862" cy="4896612"/>
          </a:xfrm>
          <a:prstGeom prst="rect">
            <a:avLst/>
          </a:prstGeom>
        </p:spPr>
        <p:txBody>
          <a:bodyPr vert="horz" lIns="91440" tIns="45720" rIns="91440" bIns="45720" rtlCol="0">
            <a:noAutofit/>
          </a:bodyPr>
          <a:lstStyle/>
          <a:p>
            <a:pPr indent="-228600">
              <a:lnSpc>
                <a:spcPct val="110000"/>
              </a:lnSpc>
              <a:spcAft>
                <a:spcPts val="600"/>
              </a:spcAf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This Python script utilizes the </a:t>
            </a:r>
            <a:r>
              <a:rPr lang="en-US" sz="1100" dirty="0" err="1">
                <a:latin typeface="Times New Roman" panose="02020603050405020304" pitchFamily="18" charset="0"/>
                <a:cs typeface="Times New Roman" panose="02020603050405020304" pitchFamily="18" charset="0"/>
              </a:rPr>
              <a:t>Ollama</a:t>
            </a:r>
            <a:r>
              <a:rPr lang="en-US" sz="1100" dirty="0">
                <a:latin typeface="Times New Roman" panose="02020603050405020304" pitchFamily="18" charset="0"/>
                <a:cs typeface="Times New Roman" panose="02020603050405020304" pitchFamily="18" charset="0"/>
              </a:rPr>
              <a:t> platform to create a semantic search and response system focused on a dataset about cats. Here's a breakdown of its main components:</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Import Modules</a:t>
            </a:r>
            <a:r>
              <a:rPr lang="en-US" sz="1100" dirty="0">
                <a:latin typeface="Times New Roman" panose="02020603050405020304" pitchFamily="18" charset="0"/>
                <a:cs typeface="Times New Roman" panose="02020603050405020304" pitchFamily="18" charset="0"/>
              </a:rPr>
              <a:t>: The script imports the </a:t>
            </a:r>
            <a:r>
              <a:rPr lang="en-US" sz="1100" dirty="0" err="1">
                <a:latin typeface="Times New Roman" panose="02020603050405020304" pitchFamily="18" charset="0"/>
                <a:cs typeface="Times New Roman" panose="02020603050405020304" pitchFamily="18" charset="0"/>
              </a:rPr>
              <a:t>ollama</a:t>
            </a:r>
            <a:r>
              <a:rPr lang="en-US" sz="1100" dirty="0">
                <a:latin typeface="Times New Roman" panose="02020603050405020304" pitchFamily="18" charset="0"/>
                <a:cs typeface="Times New Roman" panose="02020603050405020304" pitchFamily="18" charset="0"/>
              </a:rPr>
              <a:t> library for model interactions and </a:t>
            </a:r>
            <a:r>
              <a:rPr lang="en-US" sz="1100" dirty="0" err="1">
                <a:latin typeface="Times New Roman" panose="02020603050405020304" pitchFamily="18" charset="0"/>
                <a:cs typeface="Times New Roman" panose="02020603050405020304" pitchFamily="18" charset="0"/>
              </a:rPr>
              <a:t>numpy</a:t>
            </a:r>
            <a:r>
              <a:rPr lang="en-US" sz="1100" dirty="0">
                <a:latin typeface="Times New Roman" panose="02020603050405020304" pitchFamily="18" charset="0"/>
                <a:cs typeface="Times New Roman" panose="02020603050405020304" pitchFamily="18" charset="0"/>
              </a:rPr>
              <a:t> for numerical operations.</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Define Models</a:t>
            </a:r>
            <a:r>
              <a:rPr lang="en-US" sz="1100" dirty="0">
                <a:latin typeface="Times New Roman" panose="02020603050405020304" pitchFamily="18" charset="0"/>
                <a:cs typeface="Times New Roman" panose="02020603050405020304" pitchFamily="18" charset="0"/>
              </a:rPr>
              <a:t>: It specifies two models from the Hugging Face platform:</a:t>
            </a:r>
          </a:p>
          <a:p>
            <a:pPr marL="742950" lvl="1" indent="-228600">
              <a:lnSpc>
                <a:spcPct val="110000"/>
              </a:lnSpc>
              <a:spcAft>
                <a:spcPts val="600"/>
              </a:spcAf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EMBEDDING_MODEL for generating vector embeddings of text.</a:t>
            </a:r>
          </a:p>
          <a:p>
            <a:pPr marL="742950" lvl="1" indent="-228600">
              <a:lnSpc>
                <a:spcPct val="110000"/>
              </a:lnSpc>
              <a:spcAft>
                <a:spcPts val="600"/>
              </a:spcAf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LANGUAGE_MODEL for generating language-based responses.</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Load Dataset</a:t>
            </a:r>
            <a:r>
              <a:rPr lang="en-US" sz="1100" dirty="0">
                <a:latin typeface="Times New Roman" panose="02020603050405020304" pitchFamily="18" charset="0"/>
                <a:cs typeface="Times New Roman" panose="02020603050405020304" pitchFamily="18" charset="0"/>
              </a:rPr>
              <a:t>: The script reads a file containing text about cats into a list called dataset.</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Vector Database Initialization</a:t>
            </a:r>
            <a:r>
              <a:rPr lang="en-US" sz="1100" dirty="0">
                <a:latin typeface="Times New Roman" panose="02020603050405020304" pitchFamily="18" charset="0"/>
                <a:cs typeface="Times New Roman" panose="02020603050405020304" pitchFamily="18" charset="0"/>
              </a:rPr>
              <a:t>: An empty list VECTOR_DB is set up to store text chunks alongside their embeddings.</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Indexing Function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add_chunk_to_database</a:t>
            </a:r>
            <a:r>
              <a:rPr lang="en-US" sz="1100" dirty="0">
                <a:latin typeface="Times New Roman" panose="02020603050405020304" pitchFamily="18" charset="0"/>
                <a:cs typeface="Times New Roman" panose="02020603050405020304" pitchFamily="18" charset="0"/>
              </a:rPr>
              <a:t> embeds each chunk of text from the dataset using the embedding model and stores it in VECTOR_DB.</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Cosine Similarity Function</a:t>
            </a:r>
            <a:r>
              <a:rPr lang="en-US" sz="1100" dirty="0">
                <a:latin typeface="Times New Roman" panose="02020603050405020304" pitchFamily="18" charset="0"/>
                <a:cs typeface="Times New Roman" panose="02020603050405020304" pitchFamily="18" charset="0"/>
              </a:rPr>
              <a:t>: This calculates the similarity between two vectors, used to find the most relevant text chunks in response to a query.</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Retrieval Function</a:t>
            </a:r>
            <a:r>
              <a:rPr lang="en-US" sz="1100" dirty="0">
                <a:latin typeface="Times New Roman" panose="02020603050405020304" pitchFamily="18" charset="0"/>
                <a:cs typeface="Times New Roman" panose="02020603050405020304" pitchFamily="18" charset="0"/>
              </a:rPr>
              <a:t>: retrieve embeds a query and computes its cosine similarity with all embeddings in the database to find the top N relevant chunks.</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Response Generation Function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generate_response</a:t>
            </a:r>
            <a:r>
              <a:rPr lang="en-US" sz="1100" dirty="0">
                <a:latin typeface="Times New Roman" panose="02020603050405020304" pitchFamily="18" charset="0"/>
                <a:cs typeface="Times New Roman" panose="02020603050405020304" pitchFamily="18" charset="0"/>
              </a:rPr>
              <a:t> uses the retrieved chunks as context to generate a natural language response to the query using the language model. It prints out this response.</a:t>
            </a:r>
          </a:p>
          <a:p>
            <a:pPr indent="-228600">
              <a:lnSpc>
                <a:spcPct val="110000"/>
              </a:lnSpc>
              <a:spcAft>
                <a:spcPts val="600"/>
              </a:spcAf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Example Interaction</a:t>
            </a:r>
            <a:r>
              <a:rPr lang="en-US" sz="1100" dirty="0">
                <a:latin typeface="Times New Roman" panose="02020603050405020304" pitchFamily="18" charset="0"/>
                <a:cs typeface="Times New Roman" panose="02020603050405020304" pitchFamily="18" charset="0"/>
              </a:rPr>
              <a:t>: The script prompts the user for a query about cats and uses the generated response function to provide an answer.</a:t>
            </a:r>
          </a:p>
          <a:p>
            <a:pPr indent="-228600">
              <a:lnSpc>
                <a:spcPct val="110000"/>
              </a:lnSpc>
              <a:spcAft>
                <a:spcPts val="600"/>
              </a:spcAft>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877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0F1D-A37F-7DF6-6049-99095A2E135D}"/>
              </a:ext>
            </a:extLst>
          </p:cNvPr>
          <p:cNvSpPr>
            <a:spLocks noGrp="1"/>
          </p:cNvSpPr>
          <p:nvPr>
            <p:ph type="title"/>
          </p:nvPr>
        </p:nvSpPr>
        <p:spPr>
          <a:xfrm>
            <a:off x="612648" y="548640"/>
            <a:ext cx="10653578" cy="743712"/>
          </a:xfrm>
        </p:spPr>
        <p:txBody>
          <a:bodyPr/>
          <a:lstStyle/>
          <a:p>
            <a:r>
              <a:rPr lang="en-US" dirty="0"/>
              <a:t>Demo-01 Output</a:t>
            </a:r>
          </a:p>
        </p:txBody>
      </p:sp>
      <p:pic>
        <p:nvPicPr>
          <p:cNvPr id="3" name="Picture 2">
            <a:extLst>
              <a:ext uri="{FF2B5EF4-FFF2-40B4-BE49-F238E27FC236}">
                <a16:creationId xmlns:a16="http://schemas.microsoft.com/office/drawing/2014/main" id="{9545FB5B-BA7E-6899-C2CD-70FD45E13A2B}"/>
              </a:ext>
            </a:extLst>
          </p:cNvPr>
          <p:cNvPicPr>
            <a:picLocks noChangeAspect="1"/>
          </p:cNvPicPr>
          <p:nvPr/>
        </p:nvPicPr>
        <p:blipFill>
          <a:blip r:embed="rId2"/>
          <a:stretch>
            <a:fillRect/>
          </a:stretch>
        </p:blipFill>
        <p:spPr>
          <a:xfrm>
            <a:off x="130197" y="2138458"/>
            <a:ext cx="11931606" cy="2581084"/>
          </a:xfrm>
          <a:prstGeom prst="rect">
            <a:avLst/>
          </a:prstGeom>
        </p:spPr>
      </p:pic>
    </p:spTree>
    <p:extLst>
      <p:ext uri="{BB962C8B-B14F-4D97-AF65-F5344CB8AC3E}">
        <p14:creationId xmlns:p14="http://schemas.microsoft.com/office/powerpoint/2010/main" val="205879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6A947-DA00-8A0A-F54B-531458077A15}"/>
              </a:ext>
            </a:extLst>
          </p:cNvPr>
          <p:cNvSpPr>
            <a:spLocks noGrp="1"/>
          </p:cNvSpPr>
          <p:nvPr>
            <p:ph type="title"/>
          </p:nvPr>
        </p:nvSpPr>
        <p:spPr>
          <a:xfrm>
            <a:off x="612648" y="548640"/>
            <a:ext cx="10653578" cy="646176"/>
          </a:xfrm>
        </p:spPr>
        <p:txBody>
          <a:bodyPr/>
          <a:lstStyle/>
          <a:p>
            <a:r>
              <a:rPr lang="en-US" dirty="0"/>
              <a:t>Demo-02 installations</a:t>
            </a:r>
          </a:p>
        </p:txBody>
      </p:sp>
      <p:sp>
        <p:nvSpPr>
          <p:cNvPr id="3" name="TextBox 2">
            <a:extLst>
              <a:ext uri="{FF2B5EF4-FFF2-40B4-BE49-F238E27FC236}">
                <a16:creationId xmlns:a16="http://schemas.microsoft.com/office/drawing/2014/main" id="{A69439BA-0E8C-9E00-96C2-F6CD481F2B34}"/>
              </a:ext>
            </a:extLst>
          </p:cNvPr>
          <p:cNvSpPr txBox="1"/>
          <p:nvPr/>
        </p:nvSpPr>
        <p:spPr>
          <a:xfrm>
            <a:off x="431800" y="1415796"/>
            <a:ext cx="5908040" cy="5301996"/>
          </a:xfrm>
          <a:prstGeom prst="rect">
            <a:avLst/>
          </a:prstGeom>
        </p:spPr>
        <p:txBody>
          <a:bodyPr vert="horz" lIns="91440" tIns="45720" rIns="91440" bIns="45720" rtlCol="0">
            <a:normAutofit/>
          </a:bodyPr>
          <a:lstStyle/>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&lt;2"</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a:t>
            </a:r>
            <a:r>
              <a:rPr lang="en-US" dirty="0" err="1">
                <a:latin typeface="Times New Roman" panose="02020603050405020304" pitchFamily="18" charset="0"/>
                <a:cs typeface="Times New Roman" panose="02020603050405020304" pitchFamily="18" charset="0"/>
              </a:rPr>
              <a:t>scipy</a:t>
            </a:r>
            <a:endParaRPr lang="en-US" dirty="0">
              <a:latin typeface="Times New Roman" panose="02020603050405020304" pitchFamily="18" charset="0"/>
              <a:cs typeface="Times New Roman" panose="02020603050405020304" pitchFamily="18" charset="0"/>
            </a:endParaRP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scikit-learn  # Corrected from '</a:t>
            </a:r>
            <a:r>
              <a:rPr lang="en-US" dirty="0" err="1">
                <a:latin typeface="Times New Roman" panose="02020603050405020304" pitchFamily="18" charset="0"/>
                <a:cs typeface="Times New Roman" panose="02020603050405020304" pitchFamily="18" charset="0"/>
              </a:rPr>
              <a:t>sklearn</a:t>
            </a:r>
            <a:r>
              <a:rPr lang="en-US" dirty="0">
                <a:latin typeface="Times New Roman" panose="02020603050405020304" pitchFamily="18" charset="0"/>
                <a:cs typeface="Times New Roman" panose="02020603050405020304" pitchFamily="18" charset="0"/>
              </a:rPr>
              <a:t>' to 'scikit-learn'</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pandas  # If you use pandas</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transformers</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sentence-transformers</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torch transformers sentence-transformers </a:t>
            </a:r>
            <a:r>
              <a:rPr lang="en-US" dirty="0" err="1">
                <a:latin typeface="Times New Roman" panose="02020603050405020304" pitchFamily="18" charset="0"/>
                <a:cs typeface="Times New Roman" panose="02020603050405020304" pitchFamily="18" charset="0"/>
              </a:rPr>
              <a:t>faiss-cpu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openai</a:t>
            </a:r>
            <a:endParaRPr lang="en-US" dirty="0">
              <a:latin typeface="Times New Roman" panose="02020603050405020304" pitchFamily="18" charset="0"/>
              <a:cs typeface="Times New Roman" panose="02020603050405020304" pitchFamily="18" charset="0"/>
            </a:endParaRP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a:t>
            </a:r>
            <a:r>
              <a:rPr lang="en-US" dirty="0" err="1">
                <a:latin typeface="Times New Roman" panose="02020603050405020304" pitchFamily="18" charset="0"/>
                <a:cs typeface="Times New Roman" panose="02020603050405020304" pitchFamily="18" charset="0"/>
              </a:rPr>
              <a:t>openai</a:t>
            </a:r>
            <a:r>
              <a:rPr lang="en-US" dirty="0">
                <a:latin typeface="Times New Roman" panose="02020603050405020304" pitchFamily="18" charset="0"/>
                <a:cs typeface="Times New Roman" panose="02020603050405020304" pitchFamily="18" charset="0"/>
              </a:rPr>
              <a:t>==0.28</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pip</a:t>
            </a: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--upgrade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ipywidgets</a:t>
            </a:r>
            <a:endParaRPr lang="en-US" dirty="0">
              <a:latin typeface="Times New Roman" panose="02020603050405020304" pitchFamily="18" charset="0"/>
              <a:cs typeface="Times New Roman" panose="02020603050405020304" pitchFamily="18" charset="0"/>
            </a:endParaRP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nbextension</a:t>
            </a:r>
            <a:r>
              <a:rPr lang="en-US" dirty="0">
                <a:latin typeface="Times New Roman" panose="02020603050405020304" pitchFamily="18" charset="0"/>
                <a:cs typeface="Times New Roman" panose="02020603050405020304" pitchFamily="18" charset="0"/>
              </a:rPr>
              <a:t> enable --</a:t>
            </a:r>
            <a:r>
              <a:rPr lang="en-US" dirty="0" err="1">
                <a:latin typeface="Times New Roman" panose="02020603050405020304" pitchFamily="18" charset="0"/>
                <a:cs typeface="Times New Roman" panose="02020603050405020304" pitchFamily="18" charset="0"/>
              </a:rPr>
              <a:t>py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widgetsnbextension</a:t>
            </a:r>
            <a:endParaRPr lang="en-US" dirty="0">
              <a:latin typeface="Times New Roman" panose="02020603050405020304" pitchFamily="18" charset="0"/>
              <a:cs typeface="Times New Roman" panose="02020603050405020304" pitchFamily="18" charset="0"/>
            </a:endParaRPr>
          </a:p>
          <a:p>
            <a:pPr marL="285750" indent="-228600">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pip install </a:t>
            </a:r>
            <a:r>
              <a:rPr lang="en-US" dirty="0" err="1">
                <a:latin typeface="Times New Roman" panose="02020603050405020304" pitchFamily="18" charset="0"/>
                <a:cs typeface="Times New Roman" panose="02020603050405020304" pitchFamily="18" charset="0"/>
              </a:rPr>
              <a:t>tf-keras</a:t>
            </a:r>
            <a:endParaRPr lang="en-US" dirty="0">
              <a:latin typeface="Times New Roman" panose="02020603050405020304" pitchFamily="18" charset="0"/>
              <a:cs typeface="Times New Roman" panose="02020603050405020304" pitchFamily="18" charset="0"/>
            </a:endParaRPr>
          </a:p>
          <a:p>
            <a:pPr indent="-228600">
              <a:lnSpc>
                <a:spcPct val="110000"/>
              </a:lnSpc>
              <a:spcAft>
                <a:spcPts val="60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AF9B83D-1220-C42C-7ACB-91CBA56CDA2A}"/>
              </a:ext>
            </a:extLst>
          </p:cNvPr>
          <p:cNvSpPr txBox="1"/>
          <p:nvPr/>
        </p:nvSpPr>
        <p:spPr>
          <a:xfrm>
            <a:off x="6437376" y="1194816"/>
            <a:ext cx="5547360" cy="5878532"/>
          </a:xfrm>
          <a:prstGeom prst="rect">
            <a:avLst/>
          </a:prstGeom>
          <a:noFill/>
        </p:spPr>
        <p:txBody>
          <a:bodyPr wrap="square" rtlCol="0">
            <a:spAutoFit/>
          </a:bodyPr>
          <a:lstStyle/>
          <a:p>
            <a:r>
              <a:rPr lang="en-US" sz="1700" dirty="0">
                <a:latin typeface="Times New Roman" panose="02020603050405020304" pitchFamily="18" charset="0"/>
                <a:cs typeface="Times New Roman" panose="02020603050405020304" pitchFamily="18" charset="0"/>
              </a:rPr>
              <a:t>The !pip install commands upgrade and install the necessary Python packages to ensure that all dependencies required by the script are met. </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numpy</a:t>
            </a: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scipy</a:t>
            </a:r>
            <a:r>
              <a:rPr lang="en-US" sz="1700" b="1" dirty="0">
                <a:latin typeface="Times New Roman" panose="02020603050405020304" pitchFamily="18" charset="0"/>
                <a:cs typeface="Times New Roman" panose="02020603050405020304" pitchFamily="18" charset="0"/>
              </a:rPr>
              <a:t>, scikit-learn, pandas</a:t>
            </a:r>
            <a:r>
              <a:rPr lang="en-US" sz="1700" dirty="0">
                <a:latin typeface="Times New Roman" panose="02020603050405020304" pitchFamily="18" charset="0"/>
                <a:cs typeface="Times New Roman" panose="02020603050405020304" pitchFamily="18" charset="0"/>
              </a:rPr>
              <a:t>: These are fundamental libraries for numerical computing and data handling in Python, used across various data manipulation and machine learning tasks.</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transformers, sentence-transformers</a:t>
            </a:r>
            <a:r>
              <a:rPr lang="en-US" sz="1700" dirty="0">
                <a:latin typeface="Times New Roman" panose="02020603050405020304" pitchFamily="18" charset="0"/>
                <a:cs typeface="Times New Roman" panose="02020603050405020304" pitchFamily="18" charset="0"/>
              </a:rPr>
              <a:t>: These libraries provide access to pre-trained models like BERT and tools for text processing and embedding generation.</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torch, </a:t>
            </a:r>
            <a:r>
              <a:rPr lang="en-US" sz="1700" b="1" dirty="0" err="1">
                <a:latin typeface="Times New Roman" panose="02020603050405020304" pitchFamily="18" charset="0"/>
                <a:cs typeface="Times New Roman" panose="02020603050405020304" pitchFamily="18" charset="0"/>
              </a:rPr>
              <a:t>faiss-cpu</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PyTorch</a:t>
            </a:r>
            <a:r>
              <a:rPr lang="en-US" sz="1700" dirty="0">
                <a:latin typeface="Times New Roman" panose="02020603050405020304" pitchFamily="18" charset="0"/>
                <a:cs typeface="Times New Roman" panose="02020603050405020304" pitchFamily="18" charset="0"/>
              </a:rPr>
              <a:t> is a deep learning framework, and FAISS is used for efficient similarity searches in large databases. </a:t>
            </a:r>
            <a:r>
              <a:rPr lang="en-US" sz="1700" dirty="0" err="1">
                <a:latin typeface="Times New Roman" panose="02020603050405020304" pitchFamily="18" charset="0"/>
                <a:cs typeface="Times New Roman" panose="02020603050405020304" pitchFamily="18" charset="0"/>
              </a:rPr>
              <a:t>faiss-cpu</a:t>
            </a:r>
            <a:r>
              <a:rPr lang="en-US" sz="1700" dirty="0">
                <a:latin typeface="Times New Roman" panose="02020603050405020304" pitchFamily="18" charset="0"/>
                <a:cs typeface="Times New Roman" panose="02020603050405020304" pitchFamily="18" charset="0"/>
              </a:rPr>
              <a:t> specifies installation for systems without GPU support.</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openai</a:t>
            </a:r>
            <a:r>
              <a:rPr lang="en-US" sz="1700" dirty="0">
                <a:latin typeface="Times New Roman" panose="02020603050405020304" pitchFamily="18" charset="0"/>
                <a:cs typeface="Times New Roman" panose="02020603050405020304" pitchFamily="18" charset="0"/>
              </a:rPr>
              <a:t>: The OpenAI Python client library, used to interact with OpenAI’s API for tasks like chat completions.</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ipywidgets</a:t>
            </a: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jupyter</a:t>
            </a:r>
            <a:r>
              <a:rPr lang="en-US" sz="1700" dirty="0">
                <a:latin typeface="Times New Roman" panose="02020603050405020304" pitchFamily="18" charset="0"/>
                <a:cs typeface="Times New Roman" panose="02020603050405020304" pitchFamily="18" charset="0"/>
              </a:rPr>
              <a:t>: These enhance </a:t>
            </a:r>
            <a:r>
              <a:rPr lang="en-US" sz="1700" dirty="0" err="1">
                <a:latin typeface="Times New Roman" panose="02020603050405020304" pitchFamily="18" charset="0"/>
                <a:cs typeface="Times New Roman" panose="02020603050405020304" pitchFamily="18" charset="0"/>
              </a:rPr>
              <a:t>Jupyter</a:t>
            </a:r>
            <a:r>
              <a:rPr lang="en-US" sz="1700" dirty="0">
                <a:latin typeface="Times New Roman" panose="02020603050405020304" pitchFamily="18" charset="0"/>
                <a:cs typeface="Times New Roman" panose="02020603050405020304" pitchFamily="18" charset="0"/>
              </a:rPr>
              <a:t> notebooks with interactive widgets.</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tf-keras</a:t>
            </a:r>
            <a:r>
              <a:rPr lang="en-US" sz="1700" dirty="0">
                <a:latin typeface="Times New Roman" panose="02020603050405020304" pitchFamily="18" charset="0"/>
                <a:cs typeface="Times New Roman" panose="02020603050405020304" pitchFamily="18" charset="0"/>
              </a:rPr>
              <a:t>: TensorFlow's implementation of </a:t>
            </a:r>
            <a:r>
              <a:rPr lang="en-US" sz="1700" dirty="0" err="1">
                <a:latin typeface="Times New Roman" panose="02020603050405020304" pitchFamily="18" charset="0"/>
                <a:cs typeface="Times New Roman" panose="02020603050405020304" pitchFamily="18" charset="0"/>
              </a:rPr>
              <a:t>Keras</a:t>
            </a:r>
            <a:r>
              <a:rPr lang="en-US" sz="1700" dirty="0">
                <a:latin typeface="Times New Roman" panose="02020603050405020304" pitchFamily="18" charset="0"/>
                <a:cs typeface="Times New Roman" panose="02020603050405020304" pitchFamily="18" charset="0"/>
              </a:rPr>
              <a:t>, a high-level neural networks API, used for various machine learning tasks</a:t>
            </a:r>
            <a:r>
              <a:rPr lang="en-US" dirty="0"/>
              <a:t>.</a:t>
            </a:r>
          </a:p>
          <a:p>
            <a:endParaRPr lang="en-US" dirty="0"/>
          </a:p>
        </p:txBody>
      </p:sp>
    </p:spTree>
    <p:extLst>
      <p:ext uri="{BB962C8B-B14F-4D97-AF65-F5344CB8AC3E}">
        <p14:creationId xmlns:p14="http://schemas.microsoft.com/office/powerpoint/2010/main" val="2423806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program&#10;&#10;AI-generated content may be incorrect.">
            <a:extLst>
              <a:ext uri="{FF2B5EF4-FFF2-40B4-BE49-F238E27FC236}">
                <a16:creationId xmlns:a16="http://schemas.microsoft.com/office/drawing/2014/main" id="{07B03B30-BB7D-B14F-5D05-4411F242BA8B}"/>
              </a:ext>
            </a:extLst>
          </p:cNvPr>
          <p:cNvPicPr>
            <a:picLocks noChangeAspect="1"/>
          </p:cNvPicPr>
          <p:nvPr/>
        </p:nvPicPr>
        <p:blipFill>
          <a:blip r:embed="rId2"/>
          <a:srcRect r="32201"/>
          <a:stretch/>
        </p:blipFill>
        <p:spPr>
          <a:xfrm>
            <a:off x="4752550" y="10"/>
            <a:ext cx="7439450" cy="6857990"/>
          </a:xfrm>
          <a:prstGeom prst="rect">
            <a:avLst/>
          </a:prstGeom>
        </p:spPr>
      </p:pic>
      <p:sp>
        <p:nvSpPr>
          <p:cNvPr id="2" name="Title 1">
            <a:extLst>
              <a:ext uri="{FF2B5EF4-FFF2-40B4-BE49-F238E27FC236}">
                <a16:creationId xmlns:a16="http://schemas.microsoft.com/office/drawing/2014/main" id="{8FB32649-8249-CBCD-4E53-CDBF012B690D}"/>
              </a:ext>
            </a:extLst>
          </p:cNvPr>
          <p:cNvSpPr>
            <a:spLocks noGrp="1"/>
          </p:cNvSpPr>
          <p:nvPr>
            <p:ph type="title"/>
          </p:nvPr>
        </p:nvSpPr>
        <p:spPr>
          <a:xfrm>
            <a:off x="599569" y="147828"/>
            <a:ext cx="3553412" cy="749808"/>
          </a:xfrm>
        </p:spPr>
        <p:txBody>
          <a:bodyPr vert="horz" lIns="91440" tIns="45720" rIns="91440" bIns="45720" rtlCol="0" anchor="b">
            <a:normAutofit/>
          </a:bodyPr>
          <a:lstStyle/>
          <a:p>
            <a:r>
              <a:rPr lang="en-US" b="1" kern="1200" dirty="0">
                <a:solidFill>
                  <a:schemeClr val="tx1"/>
                </a:solidFill>
                <a:latin typeface="+mj-lt"/>
                <a:ea typeface="+mj-ea"/>
                <a:cs typeface="+mj-cs"/>
              </a:rPr>
              <a:t>Demo-02</a:t>
            </a:r>
          </a:p>
        </p:txBody>
      </p:sp>
      <p:sp>
        <p:nvSpPr>
          <p:cNvPr id="3" name="TextBox 2">
            <a:extLst>
              <a:ext uri="{FF2B5EF4-FFF2-40B4-BE49-F238E27FC236}">
                <a16:creationId xmlns:a16="http://schemas.microsoft.com/office/drawing/2014/main" id="{9C44A790-D92E-CDCE-F6C6-D6E4C323FCAA}"/>
              </a:ext>
            </a:extLst>
          </p:cNvPr>
          <p:cNvSpPr txBox="1"/>
          <p:nvPr/>
        </p:nvSpPr>
        <p:spPr>
          <a:xfrm>
            <a:off x="231648" y="897636"/>
            <a:ext cx="4376928" cy="5437632"/>
          </a:xfrm>
          <a:prstGeom prst="rect">
            <a:avLst/>
          </a:prstGeom>
        </p:spPr>
        <p:txBody>
          <a:bodyPr vert="horz" lIns="91440" tIns="45720" rIns="91440" bIns="45720" rtlCol="0">
            <a:noAutofit/>
          </a:bodyPr>
          <a:lstStyle/>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Import Libraries</a:t>
            </a:r>
            <a:r>
              <a:rPr lang="en-US" sz="1200" dirty="0">
                <a:latin typeface="Times New Roman" panose="02020603050405020304" pitchFamily="18" charset="0"/>
                <a:cs typeface="Times New Roman" panose="02020603050405020304" pitchFamily="18" charset="0"/>
              </a:rPr>
              <a:t>: The code imports essential libraries like </a:t>
            </a:r>
            <a:r>
              <a:rPr lang="en-US" sz="1200" dirty="0" err="1">
                <a:latin typeface="Times New Roman" panose="02020603050405020304" pitchFamily="18" charset="0"/>
                <a:cs typeface="Times New Roman" panose="02020603050405020304" pitchFamily="18" charset="0"/>
              </a:rPr>
              <a:t>numpy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faiss</a:t>
            </a:r>
            <a:r>
              <a:rPr lang="en-US" sz="1200" dirty="0">
                <a:latin typeface="Times New Roman" panose="02020603050405020304" pitchFamily="18" charset="0"/>
                <a:cs typeface="Times New Roman" panose="02020603050405020304" pitchFamily="18" charset="0"/>
              </a:rPr>
              <a:t> (a library for efficient similarity search), </a:t>
            </a:r>
            <a:r>
              <a:rPr lang="en-US" sz="1200" dirty="0" err="1">
                <a:latin typeface="Times New Roman" panose="02020603050405020304" pitchFamily="18" charset="0"/>
                <a:cs typeface="Times New Roman" panose="02020603050405020304" pitchFamily="18" charset="0"/>
              </a:rPr>
              <a:t>SentenceTransformer</a:t>
            </a:r>
            <a:r>
              <a:rPr lang="en-US" sz="1200" dirty="0">
                <a:latin typeface="Times New Roman" panose="02020603050405020304" pitchFamily="18" charset="0"/>
                <a:cs typeface="Times New Roman" panose="02020603050405020304" pitchFamily="18" charset="0"/>
              </a:rPr>
              <a:t> (for generating text embeddings), and </a:t>
            </a:r>
            <a:r>
              <a:rPr lang="en-US" sz="1200" dirty="0" err="1">
                <a:latin typeface="Times New Roman" panose="02020603050405020304" pitchFamily="18" charset="0"/>
                <a:cs typeface="Times New Roman" panose="02020603050405020304" pitchFamily="18" charset="0"/>
              </a:rPr>
              <a:t>openai</a:t>
            </a:r>
            <a:r>
              <a:rPr lang="en-US" sz="1200" dirty="0">
                <a:latin typeface="Times New Roman" panose="02020603050405020304" pitchFamily="18" charset="0"/>
                <a:cs typeface="Times New Roman" panose="02020603050405020304" pitchFamily="18" charset="0"/>
              </a:rPr>
              <a:t> (for accessing OpenAI's API).</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Set Up OpenAI API</a:t>
            </a:r>
            <a:r>
              <a:rPr lang="en-US" sz="1200" dirty="0">
                <a:latin typeface="Times New Roman" panose="02020603050405020304" pitchFamily="18" charset="0"/>
                <a:cs typeface="Times New Roman" panose="02020603050405020304" pitchFamily="18" charset="0"/>
              </a:rPr>
              <a:t>: The </a:t>
            </a:r>
            <a:r>
              <a:rPr lang="en-US" sz="1200" dirty="0" err="1">
                <a:latin typeface="Times New Roman" panose="02020603050405020304" pitchFamily="18" charset="0"/>
                <a:cs typeface="Times New Roman" panose="02020603050405020304" pitchFamily="18" charset="0"/>
              </a:rPr>
              <a:t>openai.api_key</a:t>
            </a:r>
            <a:r>
              <a:rPr lang="en-US" sz="1200" dirty="0">
                <a:latin typeface="Times New Roman" panose="02020603050405020304" pitchFamily="18" charset="0"/>
                <a:cs typeface="Times New Roman" panose="02020603050405020304" pitchFamily="18" charset="0"/>
              </a:rPr>
              <a:t> is initialized with your provided API key, allowing the script to make authenticated requests to OpenAI's services.</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Data Preparation</a:t>
            </a:r>
            <a:r>
              <a:rPr lang="en-US" sz="1200" dirty="0">
                <a:latin typeface="Times New Roman" panose="02020603050405020304" pitchFamily="18" charset="0"/>
                <a:cs typeface="Times New Roman" panose="02020603050405020304" pitchFamily="18" charset="0"/>
              </a:rPr>
              <a:t>: A list of sentences is prepared as the dataset for the application.</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Create Embeddings</a:t>
            </a:r>
            <a:r>
              <a:rPr lang="en-US" sz="1200" dirty="0">
                <a:latin typeface="Times New Roman" panose="02020603050405020304" pitchFamily="18" charset="0"/>
                <a:cs typeface="Times New Roman" panose="02020603050405020304" pitchFamily="18" charset="0"/>
              </a:rPr>
              <a:t>: The </a:t>
            </a:r>
            <a:r>
              <a:rPr lang="en-US" sz="1200" dirty="0" err="1">
                <a:latin typeface="Times New Roman" panose="02020603050405020304" pitchFamily="18" charset="0"/>
                <a:cs typeface="Times New Roman" panose="02020603050405020304" pitchFamily="18" charset="0"/>
              </a:rPr>
              <a:t>SentenceTransformer</a:t>
            </a:r>
            <a:r>
              <a:rPr lang="en-US" sz="1200" dirty="0">
                <a:latin typeface="Times New Roman" panose="02020603050405020304" pitchFamily="18" charset="0"/>
                <a:cs typeface="Times New Roman" panose="02020603050405020304" pitchFamily="18" charset="0"/>
              </a:rPr>
              <a:t> model is used to convert the textual data into vector embeddings that capture the semantic meaning of each sentence.</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Build a FAISS Index</a:t>
            </a:r>
            <a:r>
              <a:rPr lang="en-US" sz="1200" dirty="0">
                <a:latin typeface="Times New Roman" panose="02020603050405020304" pitchFamily="18" charset="0"/>
                <a:cs typeface="Times New Roman" panose="02020603050405020304" pitchFamily="18" charset="0"/>
              </a:rPr>
              <a:t>: A FAISS index is constructed to enable fast retrieval of documents (sentences) that are semantically close to a given query. This is crucial for efficiency in real-time applications.</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Document Retrieval Function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retrieve_documents</a:t>
            </a:r>
            <a:r>
              <a:rPr lang="en-US" sz="1200" dirty="0">
                <a:latin typeface="Times New Roman" panose="02020603050405020304" pitchFamily="18" charset="0"/>
                <a:cs typeface="Times New Roman" panose="02020603050405020304" pitchFamily="18" charset="0"/>
              </a:rPr>
              <a:t> takes a query, encodes it, and uses the FAISS index to find the top k closest documents based on the query embedding.</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Generate Response Function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generate_response</a:t>
            </a:r>
            <a:r>
              <a:rPr lang="en-US" sz="1200" dirty="0">
                <a:latin typeface="Times New Roman" panose="02020603050405020304" pitchFamily="18" charset="0"/>
                <a:cs typeface="Times New Roman" panose="02020603050405020304" pitchFamily="18" charset="0"/>
              </a:rPr>
              <a:t> crafts a context by concatenating retrieved documents and sends this context along with the query to OpenAI's model (e.g., GPT-3.5-turbo) to generate an appropriate response.</a:t>
            </a:r>
          </a:p>
          <a:p>
            <a:pPr indent="-228600">
              <a:lnSpc>
                <a:spcPct val="11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Example Usage</a:t>
            </a:r>
            <a:r>
              <a:rPr lang="en-US" sz="1200" dirty="0">
                <a:latin typeface="Times New Roman" panose="02020603050405020304" pitchFamily="18" charset="0"/>
                <a:cs typeface="Times New Roman" panose="02020603050405020304" pitchFamily="18" charset="0"/>
              </a:rPr>
              <a:t>: The script demonstrates how to use these functions to find information about the largest ocean on Earth and generate a response based on retrieved documents.</a:t>
            </a:r>
          </a:p>
        </p:txBody>
      </p:sp>
    </p:spTree>
    <p:extLst>
      <p:ext uri="{BB962C8B-B14F-4D97-AF65-F5344CB8AC3E}">
        <p14:creationId xmlns:p14="http://schemas.microsoft.com/office/powerpoint/2010/main" val="2557113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AB192-7A11-A6B1-FF16-BD984956389A}"/>
              </a:ext>
            </a:extLst>
          </p:cNvPr>
          <p:cNvSpPr>
            <a:spLocks noGrp="1"/>
          </p:cNvSpPr>
          <p:nvPr>
            <p:ph type="title"/>
          </p:nvPr>
        </p:nvSpPr>
        <p:spPr>
          <a:xfrm>
            <a:off x="414136" y="318106"/>
            <a:ext cx="4621553" cy="628533"/>
          </a:xfrm>
        </p:spPr>
        <p:txBody>
          <a:bodyPr vert="horz" lIns="91440" tIns="45720" rIns="91440" bIns="45720" rtlCol="0" anchor="b">
            <a:normAutofit/>
          </a:bodyPr>
          <a:lstStyle/>
          <a:p>
            <a:r>
              <a:rPr lang="en-US" b="1" kern="1200" dirty="0">
                <a:solidFill>
                  <a:schemeClr val="tx1"/>
                </a:solidFill>
                <a:latin typeface="+mj-lt"/>
                <a:ea typeface="+mj-ea"/>
                <a:cs typeface="+mj-cs"/>
              </a:rPr>
              <a:t>Demo-03</a:t>
            </a:r>
          </a:p>
        </p:txBody>
      </p:sp>
      <p:sp>
        <p:nvSpPr>
          <p:cNvPr id="3" name="TextBox 2">
            <a:extLst>
              <a:ext uri="{FF2B5EF4-FFF2-40B4-BE49-F238E27FC236}">
                <a16:creationId xmlns:a16="http://schemas.microsoft.com/office/drawing/2014/main" id="{02E78D8A-EED1-DF97-342B-885180598A2D}"/>
              </a:ext>
            </a:extLst>
          </p:cNvPr>
          <p:cNvSpPr txBox="1"/>
          <p:nvPr/>
        </p:nvSpPr>
        <p:spPr>
          <a:xfrm>
            <a:off x="170688" y="946639"/>
            <a:ext cx="5279135" cy="8351520"/>
          </a:xfrm>
          <a:prstGeom prst="rect">
            <a:avLst/>
          </a:prstGeom>
        </p:spPr>
        <p:txBody>
          <a:bodyPr vert="horz" lIns="91440" tIns="45720" rIns="91440" bIns="45720" rtlCol="0">
            <a:noAutofit/>
          </a:bodyPr>
          <a:lstStyle/>
          <a:p>
            <a:pPr>
              <a:lnSpc>
                <a:spcPct val="110000"/>
              </a:lnSpc>
              <a:spcAft>
                <a:spcPts val="600"/>
              </a:spcAft>
            </a:pPr>
            <a:r>
              <a:rPr lang="en-US" sz="850" b="1" dirty="0">
                <a:latin typeface="Times New Roman" panose="02020603050405020304" pitchFamily="18" charset="0"/>
                <a:cs typeface="Times New Roman" panose="02020603050405020304" pitchFamily="18" charset="0"/>
              </a:rPr>
              <a:t>Library Imports</a:t>
            </a:r>
            <a:r>
              <a:rPr lang="en-US" sz="850" dirty="0">
                <a:latin typeface="Times New Roman" panose="02020603050405020304" pitchFamily="18" charset="0"/>
                <a:cs typeface="Times New Roman" panose="02020603050405020304" pitchFamily="18" charset="0"/>
              </a:rPr>
              <a:t>: The code imports </a:t>
            </a:r>
            <a:r>
              <a:rPr lang="en-US" sz="850" dirty="0" err="1">
                <a:latin typeface="Times New Roman" panose="02020603050405020304" pitchFamily="18" charset="0"/>
                <a:cs typeface="Times New Roman" panose="02020603050405020304" pitchFamily="18" charset="0"/>
              </a:rPr>
              <a:t>numpy</a:t>
            </a:r>
            <a:r>
              <a:rPr lang="en-US" sz="850" dirty="0">
                <a:latin typeface="Times New Roman" panose="02020603050405020304" pitchFamily="18" charset="0"/>
                <a:cs typeface="Times New Roman" panose="02020603050405020304" pitchFamily="18" charset="0"/>
              </a:rPr>
              <a:t>, </a:t>
            </a:r>
            <a:r>
              <a:rPr lang="en-US" sz="850" dirty="0" err="1">
                <a:latin typeface="Times New Roman" panose="02020603050405020304" pitchFamily="18" charset="0"/>
                <a:cs typeface="Times New Roman" panose="02020603050405020304" pitchFamily="18" charset="0"/>
              </a:rPr>
              <a:t>faiss</a:t>
            </a:r>
            <a:r>
              <a:rPr lang="en-US" sz="850" dirty="0">
                <a:latin typeface="Times New Roman" panose="02020603050405020304" pitchFamily="18" charset="0"/>
                <a:cs typeface="Times New Roman" panose="02020603050405020304" pitchFamily="18" charset="0"/>
              </a:rPr>
              <a:t>, </a:t>
            </a:r>
            <a:r>
              <a:rPr lang="en-US" sz="850" dirty="0" err="1">
                <a:latin typeface="Times New Roman" panose="02020603050405020304" pitchFamily="18" charset="0"/>
                <a:cs typeface="Times New Roman" panose="02020603050405020304" pitchFamily="18" charset="0"/>
              </a:rPr>
              <a:t>sentence_transformers</a:t>
            </a:r>
            <a:r>
              <a:rPr lang="en-US" sz="850" dirty="0">
                <a:latin typeface="Times New Roman" panose="02020603050405020304" pitchFamily="18" charset="0"/>
                <a:cs typeface="Times New Roman" panose="02020603050405020304" pitchFamily="18" charset="0"/>
              </a:rPr>
              <a:t>, and </a:t>
            </a:r>
            <a:r>
              <a:rPr lang="en-US" sz="850" dirty="0" err="1">
                <a:latin typeface="Times New Roman" panose="02020603050405020304" pitchFamily="18" charset="0"/>
                <a:cs typeface="Times New Roman" panose="02020603050405020304" pitchFamily="18" charset="0"/>
              </a:rPr>
              <a:t>openai</a:t>
            </a:r>
            <a:r>
              <a:rPr lang="en-US" sz="850" dirty="0">
                <a:latin typeface="Times New Roman" panose="02020603050405020304" pitchFamily="18" charset="0"/>
                <a:cs typeface="Times New Roman" panose="02020603050405020304" pitchFamily="18" charset="0"/>
              </a:rPr>
              <a:t>, which are essential for numerical operations, efficient similarity search, sentence embedding, and interacting with OpenAI’s API, respectively.</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OpenAI API Initialization</a:t>
            </a:r>
            <a:r>
              <a:rPr lang="en-US" sz="850" dirty="0">
                <a:latin typeface="Times New Roman" panose="02020603050405020304" pitchFamily="18" charset="0"/>
                <a:cs typeface="Times New Roman" panose="02020603050405020304" pitchFamily="18" charset="0"/>
              </a:rPr>
              <a:t>: Sets the OpenAI API key, enabling authenticated requests to OpenAI’s models.</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Data Preparation</a:t>
            </a:r>
            <a:r>
              <a:rPr lang="en-US" sz="850" dirty="0">
                <a:latin typeface="Times New Roman" panose="02020603050405020304" pitchFamily="18" charset="0"/>
                <a:cs typeface="Times New Roman" panose="02020603050405020304" pitchFamily="18" charset="0"/>
              </a:rPr>
              <a:t>: A list of historical facts is defined, providing the dataset for the script.</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Embedding Creation</a:t>
            </a:r>
            <a:r>
              <a:rPr lang="en-US" sz="850" dirty="0">
                <a:latin typeface="Times New Roman" panose="02020603050405020304" pitchFamily="18" charset="0"/>
                <a:cs typeface="Times New Roman" panose="02020603050405020304" pitchFamily="18" charset="0"/>
              </a:rPr>
              <a: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Uses the </a:t>
            </a:r>
            <a:r>
              <a:rPr lang="en-US" sz="850" dirty="0" err="1">
                <a:latin typeface="Times New Roman" panose="02020603050405020304" pitchFamily="18" charset="0"/>
                <a:cs typeface="Times New Roman" panose="02020603050405020304" pitchFamily="18" charset="0"/>
              </a:rPr>
              <a:t>SentenceTransformer</a:t>
            </a:r>
            <a:r>
              <a:rPr lang="en-US" sz="850" dirty="0">
                <a:latin typeface="Times New Roman" panose="02020603050405020304" pitchFamily="18" charset="0"/>
                <a:cs typeface="Times New Roman" panose="02020603050405020304" pitchFamily="18" charset="0"/>
              </a:rPr>
              <a:t> to transform the textual data into numerical vectors that semantically represent each sentence.</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The chosen model, all-MiniLM-L6-v2, is a compact and efficient transformer model suitable for generating embeddings.</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FAISS Index Construction</a:t>
            </a:r>
            <a:r>
              <a:rPr lang="en-US" sz="850" dirty="0">
                <a:latin typeface="Times New Roman" panose="02020603050405020304" pitchFamily="18" charset="0"/>
                <a:cs typeface="Times New Roman" panose="02020603050405020304" pitchFamily="18" charset="0"/>
              </a:rPr>
              <a: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Constructs an index with FAISS (IndexFlatL2), which is a basic flat index suitable for small to medium datasets. It uses L2 distance (Euclidean distance) to compute similarities between vectors.</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The embeddings are added to the index to facilitate quick vector similarity searches.</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Document Retrieval Function</a:t>
            </a:r>
            <a:r>
              <a:rPr lang="en-US" sz="850" dirty="0">
                <a:latin typeface="Times New Roman" panose="02020603050405020304" pitchFamily="18" charset="0"/>
                <a:cs typeface="Times New Roman" panose="02020603050405020304" pitchFamily="18" charset="0"/>
              </a:rPr>
              <a:t>:</a:t>
            </a:r>
          </a:p>
          <a:p>
            <a:pPr>
              <a:lnSpc>
                <a:spcPct val="110000"/>
              </a:lnSpc>
              <a:spcAft>
                <a:spcPts val="600"/>
              </a:spcAft>
            </a:pPr>
            <a:r>
              <a:rPr lang="en-US" sz="850" dirty="0" err="1">
                <a:latin typeface="Times New Roman" panose="02020603050405020304" pitchFamily="18" charset="0"/>
                <a:cs typeface="Times New Roman" panose="02020603050405020304" pitchFamily="18" charset="0"/>
              </a:rPr>
              <a:t>retrieve_documents</a:t>
            </a:r>
            <a:r>
              <a:rPr lang="en-US" sz="850" dirty="0">
                <a:latin typeface="Times New Roman" panose="02020603050405020304" pitchFamily="18" charset="0"/>
                <a:cs typeface="Times New Roman" panose="02020603050405020304" pitchFamily="18" charset="0"/>
              </a:rPr>
              <a:t> processes a user query to find the top k documents that are most semantically similar to the query.</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It encodes the query into an embedding and uses the FAISS index to retrieve indices of the closest document embeddings.</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Returns the actual text of the top k closest documents.</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Response Generation Function</a:t>
            </a:r>
            <a:r>
              <a:rPr lang="en-US" sz="850" dirty="0">
                <a:latin typeface="Times New Roman" panose="02020603050405020304" pitchFamily="18" charset="0"/>
                <a:cs typeface="Times New Roman" panose="02020603050405020304" pitchFamily="18" charset="0"/>
              </a:rPr>
              <a:t>:</a:t>
            </a:r>
          </a:p>
          <a:p>
            <a:pPr>
              <a:lnSpc>
                <a:spcPct val="110000"/>
              </a:lnSpc>
              <a:spcAft>
                <a:spcPts val="600"/>
              </a:spcAft>
            </a:pPr>
            <a:r>
              <a:rPr lang="en-US" sz="850" dirty="0" err="1">
                <a:latin typeface="Times New Roman" panose="02020603050405020304" pitchFamily="18" charset="0"/>
                <a:cs typeface="Times New Roman" panose="02020603050405020304" pitchFamily="18" charset="0"/>
              </a:rPr>
              <a:t>generate_response</a:t>
            </a:r>
            <a:r>
              <a:rPr lang="en-US" sz="850" dirty="0">
                <a:latin typeface="Times New Roman" panose="02020603050405020304" pitchFamily="18" charset="0"/>
                <a:cs typeface="Times New Roman" panose="02020603050405020304" pitchFamily="18" charset="0"/>
              </a:rPr>
              <a:t> takes the retrieved documents, forms a context string, and constructs a conversational setup where the system is a knowledgeable assistant.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This setup, along with the user's query, is fed to OpenAI’s GPT-3.5-turbo model, which generates a conversational response that utilizes the provided context.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 The response is designed to be coherent and contextually relevant, grounded in the facts retrieved from the FAISS index.</a:t>
            </a:r>
          </a:p>
          <a:p>
            <a:pPr>
              <a:lnSpc>
                <a:spcPct val="110000"/>
              </a:lnSpc>
              <a:spcAft>
                <a:spcPts val="600"/>
              </a:spcAft>
            </a:pPr>
            <a:r>
              <a:rPr lang="en-US" sz="850" b="1" dirty="0">
                <a:latin typeface="Times New Roman" panose="02020603050405020304" pitchFamily="18" charset="0"/>
                <a:cs typeface="Times New Roman" panose="02020603050405020304" pitchFamily="18" charset="0"/>
              </a:rPr>
              <a:t>Example Interaction</a:t>
            </a:r>
            <a:r>
              <a:rPr lang="en-US" sz="850" dirty="0">
                <a:latin typeface="Times New Roman" panose="02020603050405020304" pitchFamily="18" charset="0"/>
                <a:cs typeface="Times New Roman" panose="02020603050405020304" pitchFamily="18" charset="0"/>
              </a:rPr>
              <a: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A complex query about Nelson Mandela’s release from prison is used to demonstrate the script.</a:t>
            </a:r>
          </a:p>
          <a:p>
            <a:pPr>
              <a:lnSpc>
                <a:spcPct val="110000"/>
              </a:lnSpc>
              <a:spcAft>
                <a:spcPts val="600"/>
              </a:spcAft>
            </a:pPr>
            <a:r>
              <a:rPr lang="en-US" sz="850" dirty="0">
                <a:latin typeface="Times New Roman" panose="02020603050405020304" pitchFamily="18" charset="0"/>
                <a:cs typeface="Times New Roman" panose="02020603050405020304" pitchFamily="18" charset="0"/>
              </a:rPr>
              <a:t>The </a:t>
            </a:r>
            <a:r>
              <a:rPr lang="en-US" sz="850" dirty="0" err="1">
                <a:latin typeface="Times New Roman" panose="02020603050405020304" pitchFamily="18" charset="0"/>
                <a:cs typeface="Times New Roman" panose="02020603050405020304" pitchFamily="18" charset="0"/>
              </a:rPr>
              <a:t>retrieve_documents</a:t>
            </a:r>
            <a:r>
              <a:rPr lang="en-US" sz="850" dirty="0">
                <a:latin typeface="Times New Roman" panose="02020603050405020304" pitchFamily="18" charset="0"/>
                <a:cs typeface="Times New Roman" panose="02020603050405020304" pitchFamily="18" charset="0"/>
              </a:rPr>
              <a:t> function retrieves relevant context from the data, and </a:t>
            </a:r>
            <a:r>
              <a:rPr lang="en-US" sz="850" dirty="0" err="1">
                <a:latin typeface="Times New Roman" panose="02020603050405020304" pitchFamily="18" charset="0"/>
                <a:cs typeface="Times New Roman" panose="02020603050405020304" pitchFamily="18" charset="0"/>
              </a:rPr>
              <a:t>generate_response</a:t>
            </a:r>
            <a:r>
              <a:rPr lang="en-US" sz="850" dirty="0">
                <a:latin typeface="Times New Roman" panose="02020603050405020304" pitchFamily="18" charset="0"/>
                <a:cs typeface="Times New Roman" panose="02020603050405020304" pitchFamily="18" charset="0"/>
              </a:rPr>
              <a:t> generates a response which is then printed.</a:t>
            </a:r>
          </a:p>
        </p:txBody>
      </p:sp>
      <p:pic>
        <p:nvPicPr>
          <p:cNvPr id="4" name="Picture 3" descr="A screenshot of a computer&#10;&#10;AI-generated content may be incorrect.">
            <a:extLst>
              <a:ext uri="{FF2B5EF4-FFF2-40B4-BE49-F238E27FC236}">
                <a16:creationId xmlns:a16="http://schemas.microsoft.com/office/drawing/2014/main" id="{6552626E-605B-B8AF-F986-CD9D8CB8B45A}"/>
              </a:ext>
            </a:extLst>
          </p:cNvPr>
          <p:cNvPicPr>
            <a:picLocks noChangeAspect="1"/>
          </p:cNvPicPr>
          <p:nvPr/>
        </p:nvPicPr>
        <p:blipFill>
          <a:blip r:embed="rId2"/>
          <a:stretch>
            <a:fillRect/>
          </a:stretch>
        </p:blipFill>
        <p:spPr>
          <a:xfrm>
            <a:off x="5449824" y="0"/>
            <a:ext cx="6742175" cy="6858000"/>
          </a:xfrm>
          <a:prstGeom prst="rect">
            <a:avLst/>
          </a:prstGeom>
        </p:spPr>
      </p:pic>
    </p:spTree>
    <p:extLst>
      <p:ext uri="{BB962C8B-B14F-4D97-AF65-F5344CB8AC3E}">
        <p14:creationId xmlns:p14="http://schemas.microsoft.com/office/powerpoint/2010/main" val="1611951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6E9EA-F5D1-9CFC-893F-9AECD6C345C5}"/>
              </a:ext>
            </a:extLst>
          </p:cNvPr>
          <p:cNvSpPr>
            <a:spLocks noGrp="1"/>
          </p:cNvSpPr>
          <p:nvPr>
            <p:ph type="title"/>
          </p:nvPr>
        </p:nvSpPr>
        <p:spPr>
          <a:xfrm>
            <a:off x="612648" y="548640"/>
            <a:ext cx="10653578" cy="658368"/>
          </a:xfrm>
        </p:spPr>
        <p:txBody>
          <a:bodyPr/>
          <a:lstStyle/>
          <a:p>
            <a:r>
              <a:rPr lang="en-US" dirty="0"/>
              <a:t>Demo-03</a:t>
            </a:r>
          </a:p>
        </p:txBody>
      </p:sp>
      <p:pic>
        <p:nvPicPr>
          <p:cNvPr id="3" name="Picture 2">
            <a:extLst>
              <a:ext uri="{FF2B5EF4-FFF2-40B4-BE49-F238E27FC236}">
                <a16:creationId xmlns:a16="http://schemas.microsoft.com/office/drawing/2014/main" id="{FD0E1528-A445-6747-33AA-AE1D790BF558}"/>
              </a:ext>
            </a:extLst>
          </p:cNvPr>
          <p:cNvPicPr>
            <a:picLocks noChangeAspect="1"/>
          </p:cNvPicPr>
          <p:nvPr/>
        </p:nvPicPr>
        <p:blipFill>
          <a:blip r:embed="rId2"/>
          <a:stretch>
            <a:fillRect/>
          </a:stretch>
        </p:blipFill>
        <p:spPr>
          <a:xfrm>
            <a:off x="165147" y="1501538"/>
            <a:ext cx="11861705" cy="1095358"/>
          </a:xfrm>
          <a:prstGeom prst="rect">
            <a:avLst/>
          </a:prstGeom>
        </p:spPr>
      </p:pic>
      <p:sp>
        <p:nvSpPr>
          <p:cNvPr id="4" name="TextBox 3">
            <a:extLst>
              <a:ext uri="{FF2B5EF4-FFF2-40B4-BE49-F238E27FC236}">
                <a16:creationId xmlns:a16="http://schemas.microsoft.com/office/drawing/2014/main" id="{BEFA0BDF-9188-C1BC-4143-E5702406E617}"/>
              </a:ext>
            </a:extLst>
          </p:cNvPr>
          <p:cNvSpPr txBox="1"/>
          <p:nvPr/>
        </p:nvSpPr>
        <p:spPr>
          <a:xfrm>
            <a:off x="165147" y="3157728"/>
            <a:ext cx="9241536"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Set Query</a:t>
            </a:r>
            <a:r>
              <a:rPr lang="en-US" dirty="0">
                <a:latin typeface="Times New Roman" panose="02020603050405020304" pitchFamily="18" charset="0"/>
                <a:cs typeface="Times New Roman" panose="02020603050405020304" pitchFamily="18" charset="0"/>
              </a:rPr>
              <a:t>: The question is set in the query variable.</a:t>
            </a:r>
          </a:p>
          <a:p>
            <a:r>
              <a:rPr lang="en-US" b="1" dirty="0">
                <a:latin typeface="Times New Roman" panose="02020603050405020304" pitchFamily="18" charset="0"/>
                <a:cs typeface="Times New Roman" panose="02020603050405020304" pitchFamily="18" charset="0"/>
              </a:rPr>
              <a:t>Retrieve Documents</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retrieve_documents</a:t>
            </a:r>
            <a:r>
              <a:rPr lang="en-US" dirty="0">
                <a:latin typeface="Times New Roman" panose="02020603050405020304" pitchFamily="18" charset="0"/>
                <a:cs typeface="Times New Roman" panose="02020603050405020304" pitchFamily="18" charset="0"/>
              </a:rPr>
              <a:t> function finds the most semantically similar documents from a predefined dataset based on the query.</a:t>
            </a:r>
          </a:p>
          <a:p>
            <a:r>
              <a:rPr lang="en-US" b="1" dirty="0">
                <a:latin typeface="Times New Roman" panose="02020603050405020304" pitchFamily="18" charset="0"/>
                <a:cs typeface="Times New Roman" panose="02020603050405020304" pitchFamily="18" charset="0"/>
              </a:rPr>
              <a:t>Generate Response</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generate_response</a:t>
            </a:r>
            <a:r>
              <a:rPr lang="en-US" dirty="0">
                <a:latin typeface="Times New Roman" panose="02020603050405020304" pitchFamily="18" charset="0"/>
                <a:cs typeface="Times New Roman" panose="02020603050405020304" pitchFamily="18" charset="0"/>
              </a:rPr>
              <a:t> function uses the retrieved documents to generate a contextually informed response using OpenAI's model.</a:t>
            </a:r>
          </a:p>
          <a:p>
            <a:r>
              <a:rPr lang="en-US" b="1" dirty="0">
                <a:latin typeface="Times New Roman" panose="02020603050405020304" pitchFamily="18" charset="0"/>
                <a:cs typeface="Times New Roman" panose="02020603050405020304" pitchFamily="18" charset="0"/>
              </a:rPr>
              <a:t>Output</a:t>
            </a:r>
            <a:r>
              <a:rPr lang="en-US" dirty="0">
                <a:latin typeface="Times New Roman" panose="02020603050405020304" pitchFamily="18" charset="0"/>
                <a:cs typeface="Times New Roman" panose="02020603050405020304" pitchFamily="18" charset="0"/>
              </a:rPr>
              <a:t>: The response is printed, providing an answer to the question based on historical data and semantic search.</a:t>
            </a:r>
          </a:p>
        </p:txBody>
      </p:sp>
    </p:spTree>
    <p:extLst>
      <p:ext uri="{BB962C8B-B14F-4D97-AF65-F5344CB8AC3E}">
        <p14:creationId xmlns:p14="http://schemas.microsoft.com/office/powerpoint/2010/main" val="311337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Smiling Face with No Fill">
            <a:extLst>
              <a:ext uri="{FF2B5EF4-FFF2-40B4-BE49-F238E27FC236}">
                <a16:creationId xmlns:a16="http://schemas.microsoft.com/office/drawing/2014/main" id="{4657496A-7F0F-0920-B957-20EA0208FF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30769" y="1429352"/>
            <a:ext cx="4330461" cy="4330461"/>
          </a:xfrm>
          <a:prstGeom prst="rect">
            <a:avLst/>
          </a:prstGeom>
        </p:spPr>
      </p:pic>
      <p:sp>
        <p:nvSpPr>
          <p:cNvPr id="2" name="Title 1">
            <a:extLst>
              <a:ext uri="{FF2B5EF4-FFF2-40B4-BE49-F238E27FC236}">
                <a16:creationId xmlns:a16="http://schemas.microsoft.com/office/drawing/2014/main" id="{183EC8D4-FEB0-34AE-E985-A4C4FB581223}"/>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a:t>Thank you!</a:t>
            </a:r>
          </a:p>
        </p:txBody>
      </p:sp>
    </p:spTree>
    <p:extLst>
      <p:ext uri="{BB962C8B-B14F-4D97-AF65-F5344CB8AC3E}">
        <p14:creationId xmlns:p14="http://schemas.microsoft.com/office/powerpoint/2010/main" val="540331647"/>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50</TotalTime>
  <Words>1467</Words>
  <Application>Microsoft Macintosh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Neue Haas Grotesk Text Pro</vt:lpstr>
      <vt:lpstr>Times New Roman</vt:lpstr>
      <vt:lpstr>VanillaVTI</vt:lpstr>
      <vt:lpstr>Lab05- RAG(Retrieval-Augmented Generation) </vt:lpstr>
      <vt:lpstr>About RAG(Retrieval-Augmented Generation)</vt:lpstr>
      <vt:lpstr>Demo-01 Installation </vt:lpstr>
      <vt:lpstr>Demo-01</vt:lpstr>
      <vt:lpstr>Demo-01 Output</vt:lpstr>
      <vt:lpstr>Demo-02 installations</vt:lpstr>
      <vt:lpstr>Demo-02</vt:lpstr>
      <vt:lpstr>Demo-03</vt:lpstr>
      <vt:lpstr>Demo-03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Gopinath</dc:creator>
  <cp:lastModifiedBy>Neha Gopinath</cp:lastModifiedBy>
  <cp:revision>10</cp:revision>
  <dcterms:created xsi:type="dcterms:W3CDTF">2025-02-27T19:55:38Z</dcterms:created>
  <dcterms:modified xsi:type="dcterms:W3CDTF">2025-02-27T23:11:12Z</dcterms:modified>
</cp:coreProperties>
</file>